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Открытие: проект решает задачу информационного поиска нормативного основания в документах ЕАЭС. RAG — технология реализации, а не цель.</a:t>
            </a:r>
          </a:p>
          <a:p>
            <a:r>
              <a:t>Источник метрик: статистика корпуса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Рабочая проблема: нормативное требование распределено по сотням файлов и вложенным разделам. Ошибка влияет на программу исследования, сроки и стоимость.</a:t>
            </a:r>
          </a:p>
          <a:p>
            <a:r>
              <a:t>Тезис: единица результата — проверяемое основание, а не просто текст ответа.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 критерия: найти применимый документ, дать точные координаты и отказаться при недостаточном основании.</a:t>
            </a:r>
          </a:p>
          <a:p>
            <a:r>
              <a:t>Главная проверка — может ли эксперт быстро воспроизвести путь от вывода к исходному тексту.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Корпус: 755 документов, 11 058 фрагментов и 6,07 миллиона токенов. Структура документа сохранена, поэтому результат адресуется до пункта и страницы.</a:t>
            </a:r>
          </a:p>
          <a:p>
            <a:r>
              <a:t>Источник: статистика индекса и база проекта; 75 локальных автотестов прошли.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Поиск гибридный: vector покрывает смысл, BM25 — точные обозначения. RRF объединяет независимые ранги, затем лексический реранкер выбирает 12 фрагментов.</a:t>
            </a:r>
          </a:p>
          <a:p>
            <a:r>
              <a:t>LLM появляется только после retrieval и формулирует ответ из уже найденного контекста.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569 документов успешно прошли OCR-pipeline; обработано 4 916 страниц. Это означает отсутствие ошибок выполнения, но не отсутствие ошибок распознавания.</a:t>
            </a:r>
          </a:p>
          <a:p>
            <a:r>
              <a:t>После OCR Recall@5 вырос с 0,64 до 0,70, Recall@10 — с 0,70 до 0,82, no-hit снизился с 15 до 9.</a:t>
            </a:r>
          </a:p>
          <a:p>
            <a:r>
              <a:t>Источник: OCR-эксперимент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Оценка построена на 50 вопросах из 14 тем. Recall@5 — 0,70, Recall@10 — 0,82, MRR — 0,467.</a:t>
            </a:r>
          </a:p>
          <a:p>
            <a:r>
              <a:t>Важно: ожидаемые документы размечены автоматически, поэтому это инженерный benchmark, который требует экспертной валидации. Полный ablation пока не заявляется.</a:t>
            </a:r>
          </a:p>
          <a:p>
            <a:r>
              <a:t>Источник: evaluation report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Пользователь не получает ссылку, которой нет в реестре найденных фрагментов: ID выдаёт код, а валидатор удаляет неизвестные номера.</a:t>
            </a:r>
          </a:p>
          <a:p>
            <a:r>
              <a:t>Это не исключает интерпретационную ошибку: модель всё ещё может неверно понять корректно найденный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Score — расчётный показатель достаточности нормативного основания, а не вероятность правильности. Его факторы и штрафы задаются кодом и показываются пользователю.</a:t>
            </a:r>
          </a:p>
          <a:p>
            <a:r>
              <a:t>Score помогает решить, достаточно ли основания для ответа; он не заменяет экспертную оценку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 демонстрации выделены три вещи: сам ответ, Evidence Score и точная ссылка на документ. Пользователю не нужно читать весь интерфейс на слайде.</a:t>
            </a:r>
          </a:p>
          <a:p>
            <a:r>
              <a:t>Источник скриншотов: 02_ответ_со_ссылками.png и 04_источник_с_фрагментом.png.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Эксперт может раскрыть дословный фрагмент и перейти к оригиналу. Если найденные документы не подтверждают вывод, система показывает LOW 0.00 и отказывается от категорического ответа.</a:t>
            </a:r>
          </a:p>
          <a:p>
            <a:r>
              <a:t>Источник скриншотов: 04_источник_с_фрагментом.png и 06_честный_отказ.png.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Финальный тезис: ценность проекта — retrieval, прослеживаемость и контролируемый отказ. LLM только превращает найденные фрагменты в удобный ответ.</a:t>
            </a:r>
          </a:p>
          <a:p>
            <a:r>
              <a:t>Следующие шаги: экспертно проверить benchmark и воспроизводимо сравнить BM25, Vector, Hybrid и Hybrid + rerank.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CC090B-D426-46C2-82FF-78F00FBB5CEB}"/>
              </a:ext>
            </a:extLst>
          </p:cNvPr>
          <p:cNvSpPr>
            <a:spLocks noGrp="1"/>
          </p:cNvSpPr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ФИНАЛЬНЫЙ ПРОЕКТ · ИНФОРМАЦИОННЫЙ ПОИСК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8DF2FF-ACA1-4DE0-8C5A-965A1B987E83}"/>
              </a:ext>
            </a:extLst>
          </p:cNvPr>
          <p:cNvSpPr>
            <a:spLocks noGrp="1"/>
          </p:cNvSpPr>
          <p:nvPr/>
        </p:nvSpPr>
        <p:spPr>
          <a:xfrm>
            <a:off x="640080" y="1695450"/>
            <a:ext cx="10881360" cy="11049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Поиск нормативного основания
в документах ЕАЭС</a:t>
            </a:r>
            <a:endParaRPr sz="4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4DA9D6-1580-40F4-8082-0A1C8ED960C2}"/>
              </a:ext>
            </a:extLst>
          </p:cNvPr>
          <p:cNvSpPr>
            <a:spLocks noGrp="1"/>
          </p:cNvSpPr>
          <p:nvPr/>
        </p:nvSpPr>
        <p:spPr>
          <a:xfrm>
            <a:off x="640080" y="2886075"/>
            <a:ext cx="8858250" cy="876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7D8DE"/>
                </a:solidFill>
                <a:latin typeface="Calibri"/>
                <a:ea typeface="Calibri"/>
                <a:cs typeface="Calibri"/>
              </a:rPr>
              <a:t>EAEU Regulatory Assistant: 755 документов, точные ссылки на пункт и страницу, контролируемый отказ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AD9245E-1EFA-488D-A7D4-70654B378C80}"/>
              </a:ext>
            </a:extLst>
          </p:cNvPr>
          <p:cNvSpPr>
            <a:spLocks noGrp="1"/>
          </p:cNvSpPr>
          <p:nvPr/>
        </p:nvSpPr>
        <p:spPr>
          <a:xfrm>
            <a:off x="640080" y="3977640"/>
            <a:ext cx="1005840" cy="27432"/>
          </a:xfrm>
          <a:prstGeom prst="rect">
            <a:avLst/>
          </a:prstGeom>
          <a:solidFill>
            <a:srgbClr val="00A896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B9DD8C-87D6-458F-87FA-42EAFB9CE19A}"/>
              </a:ext>
            </a:extLst>
          </p:cNvPr>
          <p:cNvSpPr>
            <a:spLocks noGrp="1"/>
          </p:cNvSpPr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Ислам Шовгенов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4726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42ADBF-C16F-43D6-8D3E-FA55BD18F859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ПРАКТИЧЕСКАЯ ЗАДАЧА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A40D7E-9DAC-4E00-8E73-6A703298A35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Нужный пункт спрятан в сотнях документов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52FC2C-495A-45DB-962F-EB6AD22C17CE}"/>
              </a:ext>
            </a:extLst>
          </p:cNvPr>
          <p:cNvSpPr>
            <a:spLocks noGrp="1"/>
          </p:cNvSpPr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15FA8B-6965-47FE-925C-91B0684E7777}"/>
              </a:ext>
            </a:extLst>
          </p:cNvPr>
          <p:cNvSpPr>
            <a:spLocks noGrp="1"/>
          </p:cNvSpPr>
          <p:nvPr/>
        </p:nvSpPr>
        <p:spPr>
          <a:xfrm>
            <a:off x="914400" y="15727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 spc="15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ВОПРОС ИЗ РАБОТЫ</a:t>
            </a:r>
            <a:endParaRPr sz="10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34AFE9-DF05-484A-9C64-7BDA981AC7B2}"/>
              </a:ext>
            </a:extLst>
          </p:cNvPr>
          <p:cNvSpPr>
            <a:spLocks noGrp="1"/>
          </p:cNvSpPr>
          <p:nvPr/>
        </p:nvSpPr>
        <p:spPr>
          <a:xfrm>
            <a:off x="914400" y="1901952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i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«Можно ли расширить границы Cmax для высоковариабельного препарата?»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F3BC29-8DFC-4511-AB13-7D213FE675F6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Ответ влияет на дизайн исследования.</a:t>
            </a:r>
            <a:endParaRPr sz="13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C3D4AC-23E5-437F-AAF0-9BC2DA71C69E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Требование может находиться в решении, приложении или рекомендации. Ручной поиск занимает часы, а ошибка — месяцы переделки.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C5ED262-C435-4C4C-B17A-88DAEBC0DA31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521A85-A938-4035-A497-2B2D93018D56}"/>
              </a:ext>
            </a:extLst>
          </p:cNvPr>
          <p:cNvSpPr>
            <a:spLocks noGrp="1"/>
          </p:cNvSpPr>
          <p:nvPr/>
        </p:nvSpPr>
        <p:spPr>
          <a:xfrm>
            <a:off x="6583680" y="157276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 spc="1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ЧТО НУЖНО НАЙТИ</a:t>
            </a:r>
            <a:endParaRPr sz="10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629EF3-6040-4D79-A03B-8D4068A3AB5B}"/>
              </a:ext>
            </a:extLst>
          </p:cNvPr>
          <p:cNvSpPr>
            <a:spLocks noGrp="1"/>
          </p:cNvSpPr>
          <p:nvPr/>
        </p:nvSpPr>
        <p:spPr>
          <a:xfrm>
            <a:off x="6583680" y="1920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применимую норму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документ и редакцию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точный пункт и страницу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дословный фрагмент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F1712B-DD85-4FAF-83EB-302E52E5A4FE}"/>
              </a:ext>
            </a:extLst>
          </p:cNvPr>
          <p:cNvSpPr>
            <a:spLocks noGrp="1"/>
          </p:cNvSpPr>
          <p:nvPr/>
        </p:nvSpPr>
        <p:spPr>
          <a:xfrm>
            <a:off x="640080" y="39776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Задача проекта — не «сделать чат», а сократить путь от вопроса до проверяемого нормативного основания.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6D9769-C7AB-4C1A-9FC4-C0D2D3C0DBEC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B4E9D9-8FCE-4E74-80C0-27EFD659D2FB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2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70791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D42ADBF-C16F-43D6-8D3E-FA55BD18F859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КРИТЕРИИ РЕШЕНИЯ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A40D7E-9DAC-4E00-8E73-6A703298A35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Поиск должен завершаться проверяемым основанием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52FC2C-495A-45DB-962F-EB6AD22C17CE}"/>
              </a:ext>
            </a:extLst>
          </p:cNvPr>
          <p:cNvSpPr>
            <a:spLocks noGrp="1"/>
          </p:cNvSpPr>
          <p:nvPr/>
        </p:nvSpPr>
        <p:spPr>
          <a:xfrm>
            <a:off x="640080" y="13716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15FA8B-6965-47FE-925C-91B0684E7777}"/>
              </a:ext>
            </a:extLst>
          </p:cNvPr>
          <p:cNvSpPr>
            <a:spLocks noGrp="1"/>
          </p:cNvSpPr>
          <p:nvPr/>
        </p:nvSpPr>
        <p:spPr>
          <a:xfrm>
            <a:off x="914400" y="15727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 spc="150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СИСТЕМА ДОЛЖНА</a:t>
            </a:r>
            <a:endParaRPr sz="10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34AFE9-DF05-484A-9C64-7BDA981AC7B2}"/>
              </a:ext>
            </a:extLst>
          </p:cNvPr>
          <p:cNvSpPr>
            <a:spLocks noGrp="1"/>
          </p:cNvSpPr>
          <p:nvPr/>
        </p:nvSpPr>
        <p:spPr>
          <a:xfrm>
            <a:off x="914400" y="1901952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i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Найти нужный документ в корпусе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F3BC29-8DFC-4511-AB13-7D213FE675F6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B3261E"/>
                </a:solidFill>
                <a:latin typeface="Calibri"/>
                <a:ea typeface="Calibri"/>
                <a:cs typeface="Calibri"/>
              </a:rPr>
              <a:t>Указать пункт и страницу</a:t>
            </a:r>
            <a:endParaRPr sz="13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C3D4AC-23E5-437F-AAF0-9BC2DA71C69E}"/>
              </a:ext>
            </a:extLst>
          </p:cNvPr>
          <p:cNvSpPr>
            <a:spLocks noGrp="1"/>
          </p:cNvSpPr>
          <p:nvPr/>
        </p:nvSpPr>
        <p:spPr>
          <a:xfrm>
            <a:off x="914400" y="30906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Вернуть фрагмент, который эксперт может сразу открыть и проверить.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C5ED262-C435-4C4C-B17A-88DAEBC0DA31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521A85-A938-4035-A497-2B2D93018D56}"/>
              </a:ext>
            </a:extLst>
          </p:cNvPr>
          <p:cNvSpPr>
            <a:spLocks noGrp="1"/>
          </p:cNvSpPr>
          <p:nvPr/>
        </p:nvSpPr>
        <p:spPr>
          <a:xfrm>
            <a:off x="6583680" y="157276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 spc="15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СИСТЕМА НЕ ДОЛЖНА</a:t>
            </a:r>
            <a:endParaRPr sz="10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C629EF3-6040-4D79-A03B-8D4068A3AB5B}"/>
              </a:ext>
            </a:extLst>
          </p:cNvPr>
          <p:cNvSpPr>
            <a:spLocks noGrp="1"/>
          </p:cNvSpPr>
          <p:nvPr/>
        </p:nvSpPr>
        <p:spPr>
          <a:xfrm>
            <a:off x="6583680" y="1920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отвечать по памяти модели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показывать выдуманные ссылки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скрывать нехватку основания</a:t>
            </a:r>
            <a:endParaRPr sz="135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выдавать score за вероятность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F1712B-DD85-4FAF-83EB-302E52E5A4FE}"/>
              </a:ext>
            </a:extLst>
          </p:cNvPr>
          <p:cNvSpPr>
            <a:spLocks noGrp="1"/>
          </p:cNvSpPr>
          <p:nvPr/>
        </p:nvSpPr>
        <p:spPr>
          <a:xfrm>
            <a:off x="640080" y="39776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Если достаточного основания нет, корректный результат — уточняющий вопрос или отказ.</a:t>
            </a:r>
            <a:endParaRPr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16D9769-C7AB-4C1A-9FC4-C0D2D3C0DBEC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B4E9D9-8FCE-4E74-80C0-27EFD659D2FB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3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70791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E01682-D4CC-41B9-B3B1-3EC88A18A9BA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ПОИСКОВОЕ ПРОСТРАНСТВО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AFBD8C-57AD-409B-A102-DDC6B0B6AFD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Корпус превращает 755 файлов в адресуемые фрагменты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20C31A-12EF-48EE-9BB6-9A5925455BFB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445ABB-742E-492E-B1A4-FFB409B1FAB4}"/>
              </a:ext>
            </a:extLst>
          </p:cNvPr>
          <p:cNvSpPr>
            <a:spLocks noGrp="1"/>
          </p:cNvSpPr>
          <p:nvPr/>
        </p:nvSpPr>
        <p:spPr>
          <a:xfrm>
            <a:off x="804672" y="143560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755</a:t>
            </a:r>
            <a:endParaRPr sz="2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DDF730-1CED-478A-906C-69AB0DC1B62C}"/>
              </a:ext>
            </a:extLst>
          </p:cNvPr>
          <p:cNvSpPr>
            <a:spLocks noGrp="1"/>
          </p:cNvSpPr>
          <p:nvPr/>
        </p:nvSpPr>
        <p:spPr>
          <a:xfrm>
            <a:off x="804672" y="189280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документов в корпусе</a:t>
            </a:r>
            <a:endParaRPr sz="10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A0F3409-630E-4B77-9B2C-E172FE7ED863}"/>
              </a:ext>
            </a:extLst>
          </p:cNvPr>
          <p:cNvSpPr>
            <a:spLocks noGrp="1"/>
          </p:cNvSpPr>
          <p:nvPr/>
        </p:nvSpPr>
        <p:spPr>
          <a:xfrm>
            <a:off x="3465576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9E0F86-5C59-4B3C-A2E3-D25CEE27EE7A}"/>
              </a:ext>
            </a:extLst>
          </p:cNvPr>
          <p:cNvSpPr>
            <a:spLocks noGrp="1"/>
          </p:cNvSpPr>
          <p:nvPr/>
        </p:nvSpPr>
        <p:spPr>
          <a:xfrm>
            <a:off x="3630168" y="143560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11 058</a:t>
            </a:r>
            <a:endParaRPr sz="2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1424EE-5D94-4176-9753-E85FC6AD55CE}"/>
              </a:ext>
            </a:extLst>
          </p:cNvPr>
          <p:cNvSpPr>
            <a:spLocks noGrp="1"/>
          </p:cNvSpPr>
          <p:nvPr/>
        </p:nvSpPr>
        <p:spPr>
          <a:xfrm>
            <a:off x="3630168" y="189280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структурных фрагментов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2D4FA2F-7566-4D7D-8B27-2FA665C94C98}"/>
              </a:ext>
            </a:extLst>
          </p:cNvPr>
          <p:cNvSpPr>
            <a:spLocks noGrp="1"/>
          </p:cNvSpPr>
          <p:nvPr/>
        </p:nvSpPr>
        <p:spPr>
          <a:xfrm>
            <a:off x="6291072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70D2FAA-E360-4BB1-BB33-EB06BFD6F8B0}"/>
              </a:ext>
            </a:extLst>
          </p:cNvPr>
          <p:cNvSpPr>
            <a:spLocks noGrp="1"/>
          </p:cNvSpPr>
          <p:nvPr/>
        </p:nvSpPr>
        <p:spPr>
          <a:xfrm>
            <a:off x="6455664" y="143560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6,07 млн</a:t>
            </a:r>
            <a:endParaRPr sz="2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1E57513-98D0-497E-9105-E98EA88231DE}"/>
              </a:ext>
            </a:extLst>
          </p:cNvPr>
          <p:cNvSpPr>
            <a:spLocks noGrp="1"/>
          </p:cNvSpPr>
          <p:nvPr/>
        </p:nvSpPr>
        <p:spPr>
          <a:xfrm>
            <a:off x="6455664" y="189280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токенов текста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5411BF-C563-46D8-BF51-C94F2836053F}"/>
              </a:ext>
            </a:extLst>
          </p:cNvPr>
          <p:cNvSpPr>
            <a:spLocks noGrp="1"/>
          </p:cNvSpPr>
          <p:nvPr/>
        </p:nvSpPr>
        <p:spPr>
          <a:xfrm>
            <a:off x="9116568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48F1AC-D295-467C-A356-4F04BE9CFC7E}"/>
              </a:ext>
            </a:extLst>
          </p:cNvPr>
          <p:cNvSpPr>
            <a:spLocks noGrp="1"/>
          </p:cNvSpPr>
          <p:nvPr/>
        </p:nvSpPr>
        <p:spPr>
          <a:xfrm>
            <a:off x="9281160" y="143560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75</a:t>
            </a:r>
            <a:endParaRPr sz="2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6A413D3-AAC8-41F7-968D-1735F4AAEA7A}"/>
              </a:ext>
            </a:extLst>
          </p:cNvPr>
          <p:cNvSpPr>
            <a:spLocks noGrp="1"/>
          </p:cNvSpPr>
          <p:nvPr/>
        </p:nvSpPr>
        <p:spPr>
          <a:xfrm>
            <a:off x="9281160" y="189280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автотестов проходят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9A3F7AF-518A-4965-890F-EAFAA60AF7DE}"/>
              </a:ext>
            </a:extLst>
          </p:cNvPr>
          <p:cNvSpPr>
            <a:spLocks noGrp="1"/>
          </p:cNvSpPr>
          <p:nvPr/>
        </p:nvSpPr>
        <p:spPr>
          <a:xfrm>
            <a:off x="640080" y="26060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Иерархия источников</a:t>
            </a:r>
            <a:endParaRPr sz="1600"/>
          </a:p>
        </p:txBody>
      </p:sp>
      <p:graphicFrame>
        <p:nvGraphicFramePr>
          <p:cNvPr id="41" name="Table 0"/>
          <p:cNvGraphicFramePr/>
          <p:nvPr/>
        </p:nvGraphicFramePr>
        <p:xfrm>
          <a:off x="640080" y="2999232"/>
          <a:ext cx="566928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TIER 1 · 194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обязательные акты — решения Совета и Коллегии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TIER 2 · 86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руководства Коллегии ЕЭК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TIER 3 · 467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рекомендации Экспертного комитета по МНН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TIER 4 · 8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ICH / EMA / WHO — справочно, ≤ 25 % контекста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>
            <a:extLst>
              <a:ext uri="{FF2B5EF4-FFF2-40B4-BE49-F238E27FC236}">
                <a16:creationId xmlns:a16="http://schemas.microsoft.com/office/drawing/2014/main" id="{F4B248BB-ADBB-45DE-A72C-931A8894A5CC}"/>
              </a:ext>
            </a:extLst>
          </p:cNvPr>
          <p:cNvSpPr>
            <a:spLocks noGrp="1"/>
          </p:cNvSpPr>
          <p:nvPr/>
        </p:nvSpPr>
        <p:spPr>
          <a:xfrm>
            <a:off x="6720840" y="260604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DD5ACFD-8E25-470D-83A6-3204702A6F70}"/>
              </a:ext>
            </a:extLst>
          </p:cNvPr>
          <p:cNvSpPr>
            <a:spLocks noGrp="1"/>
          </p:cNvSpPr>
          <p:nvPr/>
        </p:nvSpPr>
        <p:spPr>
          <a:xfrm>
            <a:off x="6995160" y="278892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У каждого фрагмента есть координаты</a:t>
            </a:r>
            <a:endParaRPr sz="160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74280A1-D4CE-4B52-A6E5-F2739E248EB8}"/>
              </a:ext>
            </a:extLst>
          </p:cNvPr>
          <p:cNvSpPr>
            <a:spLocks noGrp="1"/>
          </p:cNvSpPr>
          <p:nvPr/>
        </p:nvSpPr>
        <p:spPr>
          <a:xfrm>
            <a:off x="6995160" y="3154680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Документ · приложение · раздел · пункт · страница</a:t>
            </a:r>
            <a:endParaRPr sz="12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CE9E016-EFA0-4A62-B00E-601B23D91E66}"/>
              </a:ext>
            </a:extLst>
          </p:cNvPr>
          <p:cNvSpPr>
            <a:spLocks noGrp="1"/>
          </p:cNvSpPr>
          <p:nvPr/>
        </p:nvSpPr>
        <p:spPr>
          <a:xfrm>
            <a:off x="6995160" y="3493008"/>
            <a:ext cx="42519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Courier New"/>
                <a:ea typeface="Courier New"/>
                <a:cs typeface="Courier New"/>
              </a:rPr>
              <a:t>Приложение № 1 · Раздел III · п. 106 · с. 52–53</a:t>
            </a:r>
            <a:endParaRPr sz="12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DFD3234-2162-41C8-BDFE-D14326BA4AC9}"/>
              </a:ext>
            </a:extLst>
          </p:cNvPr>
          <p:cNvSpPr>
            <a:spLocks noGrp="1"/>
          </p:cNvSpPr>
          <p:nvPr/>
        </p:nvSpPr>
        <p:spPr>
          <a:xfrm>
            <a:off x="6995160" y="4114800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Поиск возвращает не файл целиком, а проверяемый участок нормативного текста.</a:t>
            </a:r>
            <a:endParaRPr sz="12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3A0A47B-FF70-442E-822F-30E9DBDAD004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592546A-F45E-4C44-90F5-CB785FBF5C04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4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6270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786709-3B9D-4C57-AA66-A05640AE40DE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ИНФОРМАЦИОННЫЙ ПОИСК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59B4EF-F262-4BC5-9351-05ABE38CAB8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Сначала поиск — только затем формулировка ответа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A8FD05-7728-4AC0-A3AF-AC0AE56589B1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D472C1-1B88-4C86-9C14-6F932F3325F8}"/>
              </a:ext>
            </a:extLst>
          </p:cNvPr>
          <p:cNvSpPr>
            <a:spLocks noGrp="1"/>
          </p:cNvSpPr>
          <p:nvPr/>
        </p:nvSpPr>
        <p:spPr>
          <a:xfrm>
            <a:off x="914400" y="148132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Vector — смысл</a:t>
            </a:r>
            <a:endParaRPr sz="15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2057D-30D3-4F2E-8CB6-491F10F7317E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Находит синонимы и близкие формулировки: «дженерик» → «воспроизведённый препарат».</a:t>
            </a:r>
            <a:endParaRPr sz="12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15C4D6-F5B5-41BD-9D75-25F00749433A}"/>
              </a:ext>
            </a:extLst>
          </p:cNvPr>
          <p:cNvSpPr>
            <a:spLocks noGrp="1"/>
          </p:cNvSpPr>
          <p:nvPr/>
        </p:nvSpPr>
        <p:spPr>
          <a:xfrm>
            <a:off x="6309360" y="1325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3897AF-BE68-4125-987E-D5AFFBC0BAD1}"/>
              </a:ext>
            </a:extLst>
          </p:cNvPr>
          <p:cNvSpPr>
            <a:spLocks noGrp="1"/>
          </p:cNvSpPr>
          <p:nvPr/>
        </p:nvSpPr>
        <p:spPr>
          <a:xfrm>
            <a:off x="6583680" y="1481328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BM25 — точная лексика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0D6AE4-AFCC-480C-BAFB-26E25FAB9A71}"/>
              </a:ext>
            </a:extLst>
          </p:cNvPr>
          <p:cNvSpPr>
            <a:spLocks noGrp="1"/>
          </p:cNvSpPr>
          <p:nvPr/>
        </p:nvSpPr>
        <p:spPr>
          <a:xfrm>
            <a:off x="6583680" y="1828800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Силен на Cmax, AUC, номерах решений и диапазонах 80,00–125,00 %.</a:t>
            </a:r>
            <a:endParaRPr sz="12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BB8FB3-ACB0-4918-963E-9E82F9A3E30B}"/>
              </a:ext>
            </a:extLst>
          </p:cNvPr>
          <p:cNvSpPr>
            <a:spLocks noGrp="1"/>
          </p:cNvSpPr>
          <p:nvPr/>
        </p:nvSpPr>
        <p:spPr>
          <a:xfrm>
            <a:off x="640080" y="297180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34E17D-2A81-44E0-B634-BF7D35638BC4}"/>
              </a:ext>
            </a:extLst>
          </p:cNvPr>
          <p:cNvSpPr>
            <a:spLocks noGrp="1"/>
          </p:cNvSpPr>
          <p:nvPr/>
        </p:nvSpPr>
        <p:spPr>
          <a:xfrm>
            <a:off x="768096" y="3072384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21F89D-76B3-4C36-BFE5-93FCF5CBE4CC}"/>
              </a:ext>
            </a:extLst>
          </p:cNvPr>
          <p:cNvSpPr>
            <a:spLocks noGrp="1"/>
          </p:cNvSpPr>
          <p:nvPr/>
        </p:nvSpPr>
        <p:spPr>
          <a:xfrm>
            <a:off x="768096" y="30723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7AC88F-0F7E-4330-90AA-27E374B6FAE5}"/>
              </a:ext>
            </a:extLst>
          </p:cNvPr>
          <p:cNvSpPr>
            <a:spLocks noGrp="1"/>
          </p:cNvSpPr>
          <p:nvPr/>
        </p:nvSpPr>
        <p:spPr>
          <a:xfrm>
            <a:off x="1170432" y="299008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40 vector-кандидатов + 40 BM25-кандидатов</a:t>
            </a:r>
            <a:endParaRPr sz="12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E29E673-973E-451E-9B0A-785027FDED04}"/>
              </a:ext>
            </a:extLst>
          </p:cNvPr>
          <p:cNvSpPr>
            <a:spLocks noGrp="1"/>
          </p:cNvSpPr>
          <p:nvPr/>
        </p:nvSpPr>
        <p:spPr>
          <a:xfrm>
            <a:off x="640080" y="3538728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DAFB120-CB21-4162-AD6A-52C468BA0C1A}"/>
              </a:ext>
            </a:extLst>
          </p:cNvPr>
          <p:cNvSpPr>
            <a:spLocks noGrp="1"/>
          </p:cNvSpPr>
          <p:nvPr/>
        </p:nvSpPr>
        <p:spPr>
          <a:xfrm>
            <a:off x="768096" y="3639312"/>
            <a:ext cx="274320" cy="2743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BDC5CC-9ED7-41B1-83CB-FB42A56C693B}"/>
              </a:ext>
            </a:extLst>
          </p:cNvPr>
          <p:cNvSpPr>
            <a:spLocks noGrp="1"/>
          </p:cNvSpPr>
          <p:nvPr/>
        </p:nvSpPr>
        <p:spPr>
          <a:xfrm>
            <a:off x="768096" y="36393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C319C4B-A6B3-48C3-8AB2-C7A5EB1F509B}"/>
              </a:ext>
            </a:extLst>
          </p:cNvPr>
          <p:cNvSpPr>
            <a:spLocks noGrp="1"/>
          </p:cNvSpPr>
          <p:nvPr/>
        </p:nvSpPr>
        <p:spPr>
          <a:xfrm>
            <a:off x="1170432" y="3557016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RRF объединяет ранги → лексический реранкер</a:t>
            </a:r>
            <a:endParaRPr sz="12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6C14085-3832-4294-B6BF-81B58FBBB905}"/>
              </a:ext>
            </a:extLst>
          </p:cNvPr>
          <p:cNvSpPr>
            <a:spLocks noGrp="1"/>
          </p:cNvSpPr>
          <p:nvPr/>
        </p:nvSpPr>
        <p:spPr>
          <a:xfrm>
            <a:off x="640080" y="4105656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E96F186-9161-417E-B774-4067FE211DB0}"/>
              </a:ext>
            </a:extLst>
          </p:cNvPr>
          <p:cNvSpPr>
            <a:spLocks noGrp="1"/>
          </p:cNvSpPr>
          <p:nvPr/>
        </p:nvSpPr>
        <p:spPr>
          <a:xfrm>
            <a:off x="768096" y="4206240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5D8D07E-EB5C-4433-BD06-6652379A866A}"/>
              </a:ext>
            </a:extLst>
          </p:cNvPr>
          <p:cNvSpPr>
            <a:spLocks noGrp="1"/>
          </p:cNvSpPr>
          <p:nvPr/>
        </p:nvSpPr>
        <p:spPr>
          <a:xfrm>
            <a:off x="768096" y="42062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D30888F-8E9B-4BF4-ABAC-B308F0BD8352}"/>
              </a:ext>
            </a:extLst>
          </p:cNvPr>
          <p:cNvSpPr>
            <a:spLocks noGrp="1"/>
          </p:cNvSpPr>
          <p:nvPr/>
        </p:nvSpPr>
        <p:spPr>
          <a:xfrm>
            <a:off x="1170432" y="4123944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12 фрагментов + политика уровней источников</a:t>
            </a:r>
            <a:endParaRPr sz="125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822161A-4A66-4605-80DD-54FE8BBB1DF7}"/>
              </a:ext>
            </a:extLst>
          </p:cNvPr>
          <p:cNvSpPr>
            <a:spLocks noGrp="1"/>
          </p:cNvSpPr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i="1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LLM получает уже найденные фрагменты и превращает их в связный ответ. Поиск выполняет не LLM.</a:t>
            </a:r>
            <a:endParaRPr sz="13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547381-F67E-4A47-9D9E-6BB04126DA63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A4C3D92-4749-4353-AAED-4DCC8D595898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5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68945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FBDBD2-26BD-4C1E-A3B8-1963C44DDFC2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ИНЖЕНЕРНЫЙ ЭКСПЕРИМЕНТ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AF8FAA-CCF6-4067-A52E-D30F980CB44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OCR вернул в поиск 569 документов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DF624B-8436-482E-8405-C388AE050927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566928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Проблема. 569 документов не имели пригодного текстового слоя: по названию находились, но содержания в поиск не отдавали.</a:t>
            </a:r>
            <a:endParaRPr sz="13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18EA99-52A1-4FB8-A38F-27C0841787B3}"/>
              </a:ext>
            </a:extLst>
          </p:cNvPr>
          <p:cNvSpPr>
            <a:spLocks noGrp="1"/>
          </p:cNvSpPr>
          <p:nvPr/>
        </p:nvSpPr>
        <p:spPr>
          <a:xfrm>
            <a:off x="640080" y="2926080"/>
            <a:ext cx="56692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Решение. Tesseract (rus+eng), 4 916 страниц, 8 процессов. Переиндексация только обработанных документов.</a:t>
            </a:r>
            <a:endParaRPr sz="13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78257C-56CB-411A-895F-71F0B2908934}"/>
              </a:ext>
            </a:extLst>
          </p:cNvPr>
          <p:cNvSpPr>
            <a:spLocks noGrp="1"/>
          </p:cNvSpPr>
          <p:nvPr/>
        </p:nvSpPr>
        <p:spPr>
          <a:xfrm>
            <a:off x="640080" y="434340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569/569 </a:t>
            </a:r>
            <a:r>
              <a:rPr sz="1350" b="1" dirty="0" err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документов</a:t>
            </a:r>
            <a:r>
              <a:rPr sz="1350" b="1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b="1" dirty="0" err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обработано</a:t>
            </a:r>
            <a:endParaRPr sz="1350" dirty="0"/>
          </a:p>
        </p:txBody>
      </p:sp>
      <p:graphicFrame>
        <p:nvGraphicFramePr>
          <p:cNvPr id="16" name="Table 0"/>
          <p:cNvGraphicFramePr/>
          <p:nvPr/>
        </p:nvGraphicFramePr>
        <p:xfrm>
          <a:off x="6720840" y="1325880"/>
          <a:ext cx="4800600" cy="2414016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Показатель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До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После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Фрагменты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6 297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11 058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Recall@5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0,64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0,70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Recall@10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0,70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0,82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No-hit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</a:rPr>
                        <a:t>Ошибки выполнения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>
                          <a:solidFill>
                            <a:srgbClr val="7B8794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5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76200" marB="76200" anchor="ctr">
                    <a:lnL w="12700" cmpd="sng">
                      <a:solidFill>
                        <a:srgbClr val="E1E7EA"/>
                      </a:solidFill>
                      <a:prstDash val="solid"/>
                    </a:lnL>
                    <a:lnR w="12700" cmpd="sng">
                      <a:solidFill>
                        <a:srgbClr val="E1E7EA"/>
                      </a:solidFill>
                      <a:prstDash val="solid"/>
                    </a:lnR>
                    <a:lnT w="12700" cmpd="sng">
                      <a:solidFill>
                        <a:srgbClr val="E1E7EA"/>
                      </a:solidFill>
                      <a:prstDash val="solid"/>
                    </a:lnT>
                    <a:lnB w="12700" cmpd="sng">
                      <a:solidFill>
                        <a:srgbClr val="E1E7EA"/>
                      </a:solidFill>
                      <a:prstDash val="soli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>
            <a:extLst>
              <a:ext uri="{FF2B5EF4-FFF2-40B4-BE49-F238E27FC236}">
                <a16:creationId xmlns:a16="http://schemas.microsoft.com/office/drawing/2014/main" id="{AFA8FE31-89B5-4B84-9327-53E4DCF8DF84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F1D0613-FE16-4FFF-94A5-AA893318C0B1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6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94358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24F69A-6F2E-4E38-B8F2-43D6DB7A9C7B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ОЦЕНКА ПОИСКА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E68BD9-8460-4F6A-BD4F-5A277F236AB3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В 82% вопросов нужный документ входит в top-10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1A65DC-AA84-42BB-BA45-4092A5A31C21}"/>
              </a:ext>
            </a:extLst>
          </p:cNvPr>
          <p:cNvSpPr>
            <a:spLocks noGrp="1"/>
          </p:cNvSpPr>
          <p:nvPr/>
        </p:nvSpPr>
        <p:spPr>
          <a:xfrm>
            <a:off x="640080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615F22-352B-43C0-820D-E641E27CE499}"/>
              </a:ext>
            </a:extLst>
          </p:cNvPr>
          <p:cNvSpPr>
            <a:spLocks noGrp="1"/>
          </p:cNvSpPr>
          <p:nvPr/>
        </p:nvSpPr>
        <p:spPr>
          <a:xfrm>
            <a:off x="804672" y="138988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0,70</a:t>
            </a:r>
            <a:endParaRPr sz="2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C22E52-2A63-4431-98A4-AA8067635F0F}"/>
              </a:ext>
            </a:extLst>
          </p:cNvPr>
          <p:cNvSpPr>
            <a:spLocks noGrp="1"/>
          </p:cNvSpPr>
          <p:nvPr/>
        </p:nvSpPr>
        <p:spPr>
          <a:xfrm>
            <a:off x="804672" y="184708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Recall@5</a:t>
            </a:r>
            <a:endParaRPr sz="10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FC8C0C-D1F7-4DB5-AE7E-40DFE4F6E079}"/>
              </a:ext>
            </a:extLst>
          </p:cNvPr>
          <p:cNvSpPr>
            <a:spLocks noGrp="1"/>
          </p:cNvSpPr>
          <p:nvPr/>
        </p:nvSpPr>
        <p:spPr>
          <a:xfrm>
            <a:off x="3465576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E339A2-0554-4D6E-B42D-3E701A05FDA9}"/>
              </a:ext>
            </a:extLst>
          </p:cNvPr>
          <p:cNvSpPr>
            <a:spLocks noGrp="1"/>
          </p:cNvSpPr>
          <p:nvPr/>
        </p:nvSpPr>
        <p:spPr>
          <a:xfrm>
            <a:off x="3630168" y="138988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0,82</a:t>
            </a:r>
            <a:endParaRPr sz="2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BF9958-DD64-4F99-A77F-26CF8E3CF660}"/>
              </a:ext>
            </a:extLst>
          </p:cNvPr>
          <p:cNvSpPr>
            <a:spLocks noGrp="1"/>
          </p:cNvSpPr>
          <p:nvPr/>
        </p:nvSpPr>
        <p:spPr>
          <a:xfrm>
            <a:off x="3630168" y="184708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Recall@10</a:t>
            </a:r>
            <a:endParaRPr sz="10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B47575B-C7F0-4ADA-911F-B2565072BAA7}"/>
              </a:ext>
            </a:extLst>
          </p:cNvPr>
          <p:cNvSpPr>
            <a:spLocks noGrp="1"/>
          </p:cNvSpPr>
          <p:nvPr/>
        </p:nvSpPr>
        <p:spPr>
          <a:xfrm>
            <a:off x="6291072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6F33B9-1F33-445C-8B00-FE681C69B2EF}"/>
              </a:ext>
            </a:extLst>
          </p:cNvPr>
          <p:cNvSpPr>
            <a:spLocks noGrp="1"/>
          </p:cNvSpPr>
          <p:nvPr/>
        </p:nvSpPr>
        <p:spPr>
          <a:xfrm>
            <a:off x="6455664" y="138988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0,467</a:t>
            </a:r>
            <a:endParaRPr sz="2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683D66-F837-4849-BE02-5683B0862665}"/>
              </a:ext>
            </a:extLst>
          </p:cNvPr>
          <p:cNvSpPr>
            <a:spLocks noGrp="1"/>
          </p:cNvSpPr>
          <p:nvPr/>
        </p:nvSpPr>
        <p:spPr>
          <a:xfrm>
            <a:off x="6455664" y="184708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MRR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AD1A744-75B4-424E-8B6E-129798121A5F}"/>
              </a:ext>
            </a:extLst>
          </p:cNvPr>
          <p:cNvSpPr>
            <a:spLocks noGrp="1"/>
          </p:cNvSpPr>
          <p:nvPr/>
        </p:nvSpPr>
        <p:spPr>
          <a:xfrm>
            <a:off x="9116568" y="1280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0EC6C9-D56A-412E-931A-AF939D2ED597}"/>
              </a:ext>
            </a:extLst>
          </p:cNvPr>
          <p:cNvSpPr>
            <a:spLocks noGrp="1"/>
          </p:cNvSpPr>
          <p:nvPr/>
        </p:nvSpPr>
        <p:spPr>
          <a:xfrm>
            <a:off x="9281160" y="1389888"/>
            <a:ext cx="2276856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50</a:t>
            </a:r>
            <a:endParaRPr sz="2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F94756-0F01-4AE7-9A1D-A17BC3A977D3}"/>
              </a:ext>
            </a:extLst>
          </p:cNvPr>
          <p:cNvSpPr>
            <a:spLocks noGrp="1"/>
          </p:cNvSpPr>
          <p:nvPr/>
        </p:nvSpPr>
        <p:spPr>
          <a:xfrm>
            <a:off x="9281160" y="1847088"/>
            <a:ext cx="2276856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5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вопросов · 14 тем</a:t>
            </a:r>
            <a:endParaRPr sz="105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EC2F264-A06B-4ADC-A95C-57DEE278782C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0881360" cy="3108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Метрики измеряют поиск документа, а не корректность регуляторного вывода</a:t>
            </a:r>
            <a:endParaRPr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Ожидаемые документы размечены автоматически; набор требует экспертной проверки</a:t>
            </a:r>
            <a:endParaRPr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75 автотестов проверяют ссылки, отказ и retrieval-pipeline</a:t>
            </a:r>
            <a:endParaRPr sz="140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Полный BM25 / Vector / Hybrid / rerank ablation — следующий эксперимент</a:t>
            </a:r>
            <a:endParaRPr sz="1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40CFA9C-3E92-4F55-98F7-F7DD04FCDA2D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8B8F1C-0E6F-4F4A-8BE3-C41D69426693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7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7745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72C38A-93A9-4A59-B068-5D9F947EE86D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КОНТРОЛЬ ИСТОЧНИКОВ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1AB00A-1894-4401-9EBF-7205B1BB39BA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Пользователь не получает несуществующую ссылку</a:t>
            </a:r>
            <a:endParaRPr sz="32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E8CF37-1C20-4B05-9EBE-035CF4C1D013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603F6ED-26AF-4104-83F8-7A245F7FEDC0}"/>
              </a:ext>
            </a:extLst>
          </p:cNvPr>
          <p:cNvSpPr>
            <a:spLocks noGrp="1"/>
          </p:cNvSpPr>
          <p:nvPr/>
        </p:nvSpPr>
        <p:spPr>
          <a:xfrm>
            <a:off x="768096" y="1426464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BF355F-7D48-4BB9-A96B-07BF08479100}"/>
              </a:ext>
            </a:extLst>
          </p:cNvPr>
          <p:cNvSpPr>
            <a:spLocks noGrp="1"/>
          </p:cNvSpPr>
          <p:nvPr/>
        </p:nvSpPr>
        <p:spPr>
          <a:xfrm>
            <a:off x="768096" y="14264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D02937-09DE-4F06-9686-8BDE701C8469}"/>
              </a:ext>
            </a:extLst>
          </p:cNvPr>
          <p:cNvSpPr>
            <a:spLocks noGrp="1"/>
          </p:cNvSpPr>
          <p:nvPr/>
        </p:nvSpPr>
        <p:spPr>
          <a:xfrm>
            <a:off x="1170432" y="134416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Поиск возвращает 12 фрагментов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7E62B7-009D-4BE5-B89D-E5D3A359F63B}"/>
              </a:ext>
            </a:extLst>
          </p:cNvPr>
          <p:cNvSpPr>
            <a:spLocks noGrp="1"/>
          </p:cNvSpPr>
          <p:nvPr/>
        </p:nvSpPr>
        <p:spPr>
          <a:xfrm>
            <a:off x="640080" y="187452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79C3D04-FCB0-420D-822F-2D0ED6AB5D24}"/>
              </a:ext>
            </a:extLst>
          </p:cNvPr>
          <p:cNvSpPr>
            <a:spLocks noGrp="1"/>
          </p:cNvSpPr>
          <p:nvPr/>
        </p:nvSpPr>
        <p:spPr>
          <a:xfrm>
            <a:off x="768096" y="1975104"/>
            <a:ext cx="274320" cy="2743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0A7DBE-08CF-42BB-82EE-1228A41BA23F}"/>
              </a:ext>
            </a:extLst>
          </p:cNvPr>
          <p:cNvSpPr>
            <a:spLocks noGrp="1"/>
          </p:cNvSpPr>
          <p:nvPr/>
        </p:nvSpPr>
        <p:spPr>
          <a:xfrm>
            <a:off x="768096" y="1975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0906FF2-796A-4BDF-A83A-D8FE898F53BB}"/>
              </a:ext>
            </a:extLst>
          </p:cNvPr>
          <p:cNvSpPr>
            <a:spLocks noGrp="1"/>
          </p:cNvSpPr>
          <p:nvPr/>
        </p:nvSpPr>
        <p:spPr>
          <a:xfrm>
            <a:off x="1170432" y="189280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Код присваивает им номера [1]…[12] до вызова LLM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56414B7-0A27-465F-8C61-EA9FAC4F0961}"/>
              </a:ext>
            </a:extLst>
          </p:cNvPr>
          <p:cNvSpPr>
            <a:spLocks noGrp="1"/>
          </p:cNvSpPr>
          <p:nvPr/>
        </p:nvSpPr>
        <p:spPr>
          <a:xfrm>
            <a:off x="640080" y="242316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C23BC6-0725-40E3-989D-3523092187E1}"/>
              </a:ext>
            </a:extLst>
          </p:cNvPr>
          <p:cNvSpPr>
            <a:spLocks noGrp="1"/>
          </p:cNvSpPr>
          <p:nvPr/>
        </p:nvSpPr>
        <p:spPr>
          <a:xfrm>
            <a:off x="768096" y="2523744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6348C3-6AA3-41D5-A9CC-1D39B45CCEDA}"/>
              </a:ext>
            </a:extLst>
          </p:cNvPr>
          <p:cNvSpPr>
            <a:spLocks noGrp="1"/>
          </p:cNvSpPr>
          <p:nvPr/>
        </p:nvSpPr>
        <p:spPr>
          <a:xfrm>
            <a:off x="768096" y="25237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1C7A4E-B99C-46AB-A16A-E5C87CA00829}"/>
              </a:ext>
            </a:extLst>
          </p:cNvPr>
          <p:cNvSpPr>
            <a:spLocks noGrp="1"/>
          </p:cNvSpPr>
          <p:nvPr/>
        </p:nvSpPr>
        <p:spPr>
          <a:xfrm>
            <a:off x="1170432" y="244144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Модель может вернуть только ID из переданного контекста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AF67C1-E166-4AC3-916F-9EE1E8807B9E}"/>
              </a:ext>
            </a:extLst>
          </p:cNvPr>
          <p:cNvSpPr>
            <a:spLocks noGrp="1"/>
          </p:cNvSpPr>
          <p:nvPr/>
        </p:nvSpPr>
        <p:spPr>
          <a:xfrm>
            <a:off x="640080" y="297180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9B7B054-BA57-4255-AA0E-1AED1D1F558D}"/>
              </a:ext>
            </a:extLst>
          </p:cNvPr>
          <p:cNvSpPr>
            <a:spLocks noGrp="1"/>
          </p:cNvSpPr>
          <p:nvPr/>
        </p:nvSpPr>
        <p:spPr>
          <a:xfrm>
            <a:off x="768096" y="3072384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5AD5ED2-693C-4799-A549-D186C0F96938}"/>
              </a:ext>
            </a:extLst>
          </p:cNvPr>
          <p:cNvSpPr>
            <a:spLocks noGrp="1"/>
          </p:cNvSpPr>
          <p:nvPr/>
        </p:nvSpPr>
        <p:spPr>
          <a:xfrm>
            <a:off x="768096" y="30723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FA203CA-F9C7-408E-9BF8-B8433585ED21}"/>
              </a:ext>
            </a:extLst>
          </p:cNvPr>
          <p:cNvSpPr>
            <a:spLocks noGrp="1"/>
          </p:cNvSpPr>
          <p:nvPr/>
        </p:nvSpPr>
        <p:spPr>
          <a:xfrm>
            <a:off x="1170432" y="299008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Валидатор удаляет ID, которых нет в реестре</a:t>
            </a:r>
            <a:endParaRPr sz="12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F171E37-34E4-4636-88D1-3B12F25F17FB}"/>
              </a:ext>
            </a:extLst>
          </p:cNvPr>
          <p:cNvSpPr>
            <a:spLocks noGrp="1"/>
          </p:cNvSpPr>
          <p:nvPr/>
        </p:nvSpPr>
        <p:spPr>
          <a:xfrm>
            <a:off x="640080" y="3520440"/>
            <a:ext cx="10881360" cy="475488"/>
          </a:xfrm>
          <a:prstGeom prst="roundRect">
            <a:avLst>
              <a:gd name="adj" fmla="val 15385"/>
            </a:avLst>
          </a:prstGeom>
          <a:solidFill>
            <a:srgbClr val="F4F7F8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B73D501-925D-449D-B49A-E68A99765DF0}"/>
              </a:ext>
            </a:extLst>
          </p:cNvPr>
          <p:cNvSpPr>
            <a:spLocks noGrp="1"/>
          </p:cNvSpPr>
          <p:nvPr/>
        </p:nvSpPr>
        <p:spPr>
          <a:xfrm>
            <a:off x="768096" y="3621024"/>
            <a:ext cx="274320" cy="2743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0301476-47E1-4CDC-BB2A-8FA0A4BF6741}"/>
              </a:ext>
            </a:extLst>
          </p:cNvPr>
          <p:cNvSpPr>
            <a:spLocks noGrp="1"/>
          </p:cNvSpPr>
          <p:nvPr/>
        </p:nvSpPr>
        <p:spPr>
          <a:xfrm>
            <a:off x="768096" y="36210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E4560A-4F91-40C7-92C7-436F3F608682}"/>
              </a:ext>
            </a:extLst>
          </p:cNvPr>
          <p:cNvSpPr>
            <a:spLocks noGrp="1"/>
          </p:cNvSpPr>
          <p:nvPr/>
        </p:nvSpPr>
        <p:spPr>
          <a:xfrm>
            <a:off x="1170432" y="3538728"/>
            <a:ext cx="1019556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Номера актов в ответе сверяются с корпусом</a:t>
            </a:r>
            <a:endParaRPr sz="12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5DB5245-A855-4701-B111-D832788B0EEE}"/>
              </a:ext>
            </a:extLst>
          </p:cNvPr>
          <p:cNvSpPr>
            <a:spLocks noGrp="1"/>
          </p:cNvSpPr>
          <p:nvPr/>
        </p:nvSpPr>
        <p:spPr>
          <a:xfrm>
            <a:off x="640080" y="4315968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D7F2ED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08C8C2-36CA-4E53-9F65-402171445459}"/>
              </a:ext>
            </a:extLst>
          </p:cNvPr>
          <p:cNvSpPr>
            <a:spLocks noGrp="1"/>
          </p:cNvSpPr>
          <p:nvPr/>
        </p:nvSpPr>
        <p:spPr>
          <a:xfrm>
            <a:off x="960120" y="448056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Система исключает ссылки на несуществующие источники.</a:t>
            </a:r>
            <a:endParaRPr sz="1500"/>
          </a:p>
          <a:p>
            <a:pPr marL="0" indent="0">
              <a:buNone/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Остаточный риск — модель может неверно интерпретировать реальный фрагмент.</a:t>
            </a:r>
            <a:endParaRPr sz="15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27CD5C2-08D5-44AE-B182-97EA9E30D0D8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2069BBA-EBE2-4EC2-988E-3E0D94C32836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8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4129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FFC72B-71C0-4126-8F1F-257BB45018DF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ОЦЕНКА ОСНОВАНИЯ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72224E-6021-427B-BC6A-137BBF9232F8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0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Evidence Score показывает достаточность доказательств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B4AF4-D70C-4DED-9960-7DF12E5964A8}"/>
              </a:ext>
            </a:extLst>
          </p:cNvPr>
          <p:cNvSpPr>
            <a:spLocks noGrp="1"/>
          </p:cNvSpPr>
          <p:nvPr/>
        </p:nvSpPr>
        <p:spPr>
          <a:xfrm>
            <a:off x="640080" y="13258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Score рассчитывается кодом, а не спрашивается у модели.</a:t>
            </a:r>
            <a:endParaRPr sz="14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0E6A4E-217F-4C4E-9D1D-0026E4251855}"/>
              </a:ext>
            </a:extLst>
          </p:cNvPr>
          <p:cNvSpPr>
            <a:spLocks noGrp="1"/>
          </p:cNvSpPr>
          <p:nvPr/>
        </p:nvSpPr>
        <p:spPr>
          <a:xfrm>
            <a:off x="640080" y="219456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9 факторов: число и уровень источников, coverage ссылок, релевантность, статус редакции; штрафы за конфликты и неполные данные.</a:t>
            </a:r>
            <a:endParaRPr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A9F08C-1483-40AD-8C1E-4CDF2F9BF7EB}"/>
              </a:ext>
            </a:extLst>
          </p:cNvPr>
          <p:cNvSpPr>
            <a:spLocks noGrp="1"/>
          </p:cNvSpPr>
          <p:nvPr/>
        </p:nvSpPr>
        <p:spPr>
          <a:xfrm>
            <a:off x="640080" y="320040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Нет ни одной ссылки → принудительно LOW.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58ECDC0-6BB7-47C1-BD6B-5A4190C51A7B}"/>
              </a:ext>
            </a:extLst>
          </p:cNvPr>
          <p:cNvSpPr>
            <a:spLocks noGrp="1"/>
          </p:cNvSpPr>
          <p:nvPr/>
        </p:nvSpPr>
        <p:spPr>
          <a:xfrm>
            <a:off x="6400800" y="132588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46DA5D-6597-484F-8458-D3FD8EEBA99C}"/>
              </a:ext>
            </a:extLst>
          </p:cNvPr>
          <p:cNvSpPr>
            <a:spLocks noGrp="1"/>
          </p:cNvSpPr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A7F37"/>
                </a:solidFill>
                <a:latin typeface="Calibri"/>
                <a:ea typeface="Calibri"/>
                <a:cs typeface="Calibri"/>
              </a:rPr>
              <a:t>Evidence Score: HIGH · 0.93</a:t>
            </a:r>
            <a:endParaRPr sz="1500"/>
          </a:p>
        </p:txBody>
      </p:sp>
      <p:graphicFrame>
        <p:nvGraphicFramePr>
          <p:cNvPr id="21" name="Table 0"/>
          <p:cNvGraphicFramePr/>
          <p:nvPr/>
        </p:nvGraphicFramePr>
        <p:xfrm>
          <a:off x="6675120" y="1965960"/>
          <a:ext cx="4572000" cy="18288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Источников: 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0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+0,20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Обязательные акты: 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0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+0,25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Coverage ссылок: 100 %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0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+0,20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Лучший фрагмент: 1,00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0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+0,10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3E4C59"/>
                          </a:solidFill>
                          <a:latin typeface="Calibri"/>
                          <a:ea typeface="Calibri"/>
                          <a:cs typeface="Calibri"/>
                        </a:rPr>
                        <a:t>Редакция: 11 из 12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200" b="1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</a:rPr>
                        <a:t>+0,09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50800" marB="50800" anchor="ctr">
                    <a:lnL w="12700" cmpd="sng">
                      <a:solidFill>
                        <a:srgbClr val="EDF1F2"/>
                      </a:solidFill>
                      <a:prstDash val="solid"/>
                    </a:lnL>
                    <a:lnR w="12700" cmpd="sng">
                      <a:solidFill>
                        <a:srgbClr val="EDF1F2"/>
                      </a:solidFill>
                      <a:prstDash val="solid"/>
                    </a:lnR>
                    <a:lnT w="12700" cmpd="sng">
                      <a:solidFill>
                        <a:srgbClr val="EDF1F2"/>
                      </a:solidFill>
                      <a:prstDash val="solid"/>
                    </a:lnT>
                    <a:lnB w="12700" cmpd="sng">
                      <a:solidFill>
                        <a:srgbClr val="EDF1F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7525B085-C3F6-41CA-BAC0-7580859198F2}"/>
              </a:ext>
            </a:extLst>
          </p:cNvPr>
          <p:cNvSpPr>
            <a:spLocks noGrp="1"/>
          </p:cNvSpPr>
          <p:nvPr/>
        </p:nvSpPr>
        <p:spPr>
          <a:xfrm>
            <a:off x="6675120" y="39776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РАСЧЁТНЫЙ ПОКАЗАТЕЛЬ · НЕ ЯВЛЯЕТСЯ ВЕРОЯТНОСТЬЮ КОРРЕКТНОСТИ ОТВЕТА</a:t>
            </a:r>
            <a:endParaRPr sz="12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8B02F31-A91C-4853-AFC2-C65AE3548311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3097838-357D-4A7C-9BA0-5BC7E68E3A74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9 / 12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62354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3958B0-C42D-494D-B5F6-5EAA24D72F82}"/>
              </a:ext>
            </a:extLst>
          </p:cNvPr>
          <p:cNvSpPr>
            <a:spLocks noGrp="1"/>
          </p:cNvSpPr>
          <p:nvPr/>
        </p:nvSpPr>
        <p:spPr>
          <a:xfrm>
            <a:off x="640080" y="256032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ДЕМОНСТРАЦИЯ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E7E612-3BFE-4667-8F99-01C21031106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Ответ можно проверить по трём уровням</a:t>
            </a:r>
            <a:endParaRPr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5CA946-C082-4C3C-B53A-A2D2BF3254E0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Ответ + Evidence Score</a:t>
            </a:r>
            <a:endParaRPr sz="1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D3CC03-AEF9-4F37-AE06-B93B2291A591}"/>
              </a:ext>
            </a:extLst>
          </p:cNvPr>
          <p:cNvSpPr>
            <a:spLocks noGrp="1"/>
          </p:cNvSpPr>
          <p:nvPr/>
        </p:nvSpPr>
        <p:spPr>
          <a:xfrm>
            <a:off x="612648" y="1527048"/>
            <a:ext cx="540410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6607752-7EEF-4AA4-90C1-21263E18DA6A}"/>
              </a:ext>
            </a:extLst>
          </p:cNvPr>
          <p:cNvSpPr>
            <a:spLocks noGrp="1"/>
          </p:cNvSpPr>
          <p:nvPr/>
        </p:nvSpPr>
        <p:spPr>
          <a:xfrm>
            <a:off x="640080" y="5029200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Нормативные утверждения снабжены [N]; score объясняет достаточность основания.</a:t>
            </a:r>
            <a:endParaRPr sz="1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1B3E5B5-2DDF-4F81-BEFE-1B51E304D1CC}"/>
              </a:ext>
            </a:extLst>
          </p:cNvPr>
          <p:cNvSpPr>
            <a:spLocks noGrp="1"/>
          </p:cNvSpPr>
          <p:nvPr/>
        </p:nvSpPr>
        <p:spPr>
          <a:xfrm>
            <a:off x="6355080" y="118872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Точная ссылка на документ</a:t>
            </a:r>
            <a:endParaRPr sz="15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31968B0-2486-48A4-9E61-7A2B5B70BAE7}"/>
              </a:ext>
            </a:extLst>
          </p:cNvPr>
          <p:cNvSpPr>
            <a:spLocks noGrp="1"/>
          </p:cNvSpPr>
          <p:nvPr/>
        </p:nvSpPr>
        <p:spPr>
          <a:xfrm>
            <a:off x="6327648" y="1527048"/>
            <a:ext cx="522122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E73FE6F-BDDA-4E15-A8AF-C4F7879A91FC}"/>
              </a:ext>
            </a:extLst>
          </p:cNvPr>
          <p:cNvSpPr>
            <a:spLocks noGrp="1"/>
          </p:cNvSpPr>
          <p:nvPr/>
        </p:nvSpPr>
        <p:spPr>
          <a:xfrm>
            <a:off x="6355080" y="5029200"/>
            <a:ext cx="5166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3E4C59"/>
                </a:solidFill>
                <a:latin typeface="Calibri"/>
                <a:ea typeface="Calibri"/>
                <a:cs typeface="Calibri"/>
              </a:rPr>
              <a:t>Документ · приложение · раздел · пункт · страница.</a:t>
            </a:r>
            <a:endParaRPr sz="12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A52493D-9389-41AF-9264-74256533ECF6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5ECADA2-9168-454C-95F0-30A52945D50D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10 / 12</a:t>
            </a:r>
            <a:endParaRPr sz="95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rcRect t="16724" b="16724"/>
          <a:stretch>
            <a:fillRect/>
          </a:stretch>
        </p:blipFill>
        <p:spPr>
          <a:xfrm>
            <a:off x="640080" y="1554480"/>
            <a:ext cx="5349240" cy="3337560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4"/>
          <a:srcRect t="15546" b="15546"/>
          <a:stretch>
            <a:fillRect/>
          </a:stretch>
        </p:blipFill>
        <p:spPr>
          <a:xfrm>
            <a:off x="6355080" y="1554480"/>
            <a:ext cx="516636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797D629-5438-D655-C0FA-B5339251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82" t="16724" r="11559" b="16724"/>
          <a:stretch/>
        </p:blipFill>
        <p:spPr>
          <a:xfrm>
            <a:off x="-1" y="0"/>
            <a:ext cx="6192145" cy="69538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3F7944-1B42-F1E4-1DBE-D2D2008CBA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64" t="20450" b="15546"/>
          <a:stretch/>
        </p:blipFill>
        <p:spPr>
          <a:xfrm>
            <a:off x="5811655" y="0"/>
            <a:ext cx="7413392" cy="69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07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3958B0-C42D-494D-B5F6-5EAA24D72F82}"/>
              </a:ext>
            </a:extLst>
          </p:cNvPr>
          <p:cNvSpPr>
            <a:spLocks noGrp="1"/>
          </p:cNvSpPr>
          <p:nvPr/>
        </p:nvSpPr>
        <p:spPr>
          <a:xfrm>
            <a:off x="667512" y="173736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ПРОВЕРЯЕМОСТЬ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E7E612-3BFE-4667-8F99-01C210311061}"/>
              </a:ext>
            </a:extLst>
          </p:cNvPr>
          <p:cNvSpPr>
            <a:spLocks noGrp="1"/>
          </p:cNvSpPr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Источник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можно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открыть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;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при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нехватке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данных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система</a:t>
            </a:r>
            <a:r>
              <a:rPr sz="2850" b="1" dirty="0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850" b="1" dirty="0" err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отказывается</a:t>
            </a:r>
            <a:endParaRPr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5CA946-C082-4C3C-B53A-A2D2BF3254E0}"/>
              </a:ext>
            </a:extLst>
          </p:cNvPr>
          <p:cNvSpPr>
            <a:spLocks noGrp="1"/>
          </p:cNvSpPr>
          <p:nvPr/>
        </p:nvSpPr>
        <p:spPr>
          <a:xfrm>
            <a:off x="640080" y="1188720"/>
            <a:ext cx="53949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Дословный фрагмент</a:t>
            </a:r>
            <a:endParaRPr sz="1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D3CC03-AEF9-4F37-AE06-B93B2291A591}"/>
              </a:ext>
            </a:extLst>
          </p:cNvPr>
          <p:cNvSpPr>
            <a:spLocks noGrp="1"/>
          </p:cNvSpPr>
          <p:nvPr/>
        </p:nvSpPr>
        <p:spPr>
          <a:xfrm>
            <a:off x="612648" y="1527048"/>
            <a:ext cx="540410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1B3E5B5-2DDF-4F81-BEFE-1B51E304D1CC}"/>
              </a:ext>
            </a:extLst>
          </p:cNvPr>
          <p:cNvSpPr>
            <a:spLocks noGrp="1"/>
          </p:cNvSpPr>
          <p:nvPr/>
        </p:nvSpPr>
        <p:spPr>
          <a:xfrm>
            <a:off x="6355080" y="118872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F2933"/>
                </a:solidFill>
                <a:latin typeface="Cambria"/>
                <a:ea typeface="Cambria"/>
                <a:cs typeface="Cambria"/>
              </a:rPr>
              <a:t>Контролируемый отказ</a:t>
            </a:r>
            <a:endParaRPr sz="15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31968B0-2486-48A4-9E61-7A2B5B70BAE7}"/>
              </a:ext>
            </a:extLst>
          </p:cNvPr>
          <p:cNvSpPr>
            <a:spLocks noGrp="1"/>
          </p:cNvSpPr>
          <p:nvPr/>
        </p:nvSpPr>
        <p:spPr>
          <a:xfrm>
            <a:off x="6327648" y="1527048"/>
            <a:ext cx="5221224" cy="3392424"/>
          </a:xfrm>
          <a:prstGeom prst="rect">
            <a:avLst/>
          </a:prstGeom>
          <a:solidFill>
            <a:srgbClr val="E8EDEF"/>
          </a:solidFill>
          <a:ln w="12700">
            <a:solidFill>
              <a:srgbClr val="D3DCE0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A52493D-9389-41AF-9264-74256533ECF6}"/>
              </a:ext>
            </a:extLst>
          </p:cNvPr>
          <p:cNvSpPr>
            <a:spLocks noGrp="1"/>
          </p:cNvSpPr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EAEU Regulatory Assistant</a:t>
            </a:r>
            <a:endParaRPr sz="95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5ECADA2-9168-454C-95F0-30A52945D50D}"/>
              </a:ext>
            </a:extLst>
          </p:cNvPr>
          <p:cNvSpPr>
            <a:spLocks noGrp="1"/>
          </p:cNvSpPr>
          <p:nvPr/>
        </p:nvSpPr>
        <p:spPr>
          <a:xfrm>
            <a:off x="9692640" y="63550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50">
                <a:solidFill>
                  <a:srgbClr val="7B8794"/>
                </a:solidFill>
                <a:latin typeface="Calibri"/>
                <a:ea typeface="Calibri"/>
                <a:cs typeface="Calibri"/>
              </a:rPr>
              <a:t>11 / 12</a:t>
            </a:r>
            <a:endParaRPr sz="950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rcRect l="36230" t="16724" r="12844" b="29974"/>
          <a:stretch/>
        </p:blipFill>
        <p:spPr>
          <a:xfrm>
            <a:off x="533401" y="1481328"/>
            <a:ext cx="5513070" cy="5409692"/>
          </a:xfrm>
          <a:prstGeom prst="rect">
            <a:avLst/>
          </a:prstGeom>
        </p:spPr>
      </p:pic>
      <p:pic>
        <p:nvPicPr>
          <p:cNvPr id="29" name="Рисунок 28"/>
          <p:cNvPicPr>
            <a:picLocks noChangeAspect="1"/>
          </p:cNvPicPr>
          <p:nvPr/>
        </p:nvPicPr>
        <p:blipFill>
          <a:blip r:embed="rId4"/>
          <a:srcRect l="34439" t="15546" b="17990"/>
          <a:stretch/>
        </p:blipFill>
        <p:spPr>
          <a:xfrm>
            <a:off x="5967223" y="1481328"/>
            <a:ext cx="5657087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0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DEDF9A-E3F2-438F-A4FA-4AEAF9717171}"/>
              </a:ext>
            </a:extLst>
          </p:cNvPr>
          <p:cNvSpPr>
            <a:spLocks noGrp="1"/>
          </p:cNvSpPr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 spc="2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ВЫВОД</a:t>
            </a:r>
            <a:endParaRPr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EB5407-E925-4857-9FC0-3E59EDEA74C7}"/>
              </a:ext>
            </a:extLst>
          </p:cNvPr>
          <p:cNvSpPr>
            <a:spLocks noGrp="1"/>
          </p:cNvSpPr>
          <p:nvPr/>
        </p:nvSpPr>
        <p:spPr>
          <a:xfrm>
            <a:off x="640080" y="960120"/>
            <a:ext cx="1155192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Ценность</a:t>
            </a:r>
            <a:r>
              <a:rPr sz="3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проекта</a:t>
            </a:r>
            <a:r>
              <a:rPr sz="3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—</a:t>
            </a:r>
            <a:r>
              <a:rPr lang="ru-RU" sz="3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повторяемость и </a:t>
            </a:r>
            <a:r>
              <a:rPr sz="34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прослеживаемость</a:t>
            </a:r>
            <a:endParaRPr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844103-6502-4139-B216-86A97FBD9BF3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C9032F-4679-4D56-81B7-355B90C7DD94}"/>
              </a:ext>
            </a:extLst>
          </p:cNvPr>
          <p:cNvSpPr>
            <a:spLocks noGrp="1"/>
          </p:cNvSpPr>
          <p:nvPr/>
        </p:nvSpPr>
        <p:spPr>
          <a:xfrm>
            <a:off x="896112" y="2121408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Поиск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10D8D-2EAB-4ABE-B003-ACE433D3A860}"/>
              </a:ext>
            </a:extLst>
          </p:cNvPr>
          <p:cNvSpPr>
            <a:spLocks noGrp="1"/>
          </p:cNvSpPr>
          <p:nvPr/>
        </p:nvSpPr>
        <p:spPr>
          <a:xfrm>
            <a:off x="896112" y="2487168"/>
            <a:ext cx="3008376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7D8DE"/>
                </a:solidFill>
                <a:latin typeface="Calibri"/>
                <a:ea typeface="Calibri"/>
                <a:cs typeface="Calibri"/>
              </a:rPr>
              <a:t>755 документов → нужное нормативное основание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D2EC25-438D-4856-A616-A5382D54D172}"/>
              </a:ext>
            </a:extLst>
          </p:cNvPr>
          <p:cNvSpPr>
            <a:spLocks noGrp="1"/>
          </p:cNvSpPr>
          <p:nvPr/>
        </p:nvSpPr>
        <p:spPr>
          <a:xfrm>
            <a:off x="4489704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7D2879E-81EB-4F8D-AAB5-C3507982853F}"/>
              </a:ext>
            </a:extLst>
          </p:cNvPr>
          <p:cNvSpPr>
            <a:spLocks noGrp="1"/>
          </p:cNvSpPr>
          <p:nvPr/>
        </p:nvSpPr>
        <p:spPr>
          <a:xfrm>
            <a:off x="4745736" y="2121408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Проверяемость</a:t>
            </a:r>
            <a:endParaRPr sz="16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BFE43F-5666-45D2-9B19-391A4BF9A475}"/>
              </a:ext>
            </a:extLst>
          </p:cNvPr>
          <p:cNvSpPr>
            <a:spLocks noGrp="1"/>
          </p:cNvSpPr>
          <p:nvPr/>
        </p:nvSpPr>
        <p:spPr>
          <a:xfrm>
            <a:off x="4745736" y="2487168"/>
            <a:ext cx="3008376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7D8DE"/>
                </a:solidFill>
                <a:latin typeface="Calibri"/>
                <a:ea typeface="Calibri"/>
                <a:cs typeface="Calibri"/>
              </a:rPr>
              <a:t>Пункт, страница и дословный фрагмент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A040EF-A18C-46FE-A43F-7FE05E663AF3}"/>
              </a:ext>
            </a:extLst>
          </p:cNvPr>
          <p:cNvSpPr>
            <a:spLocks noGrp="1"/>
          </p:cNvSpPr>
          <p:nvPr/>
        </p:nvSpPr>
        <p:spPr>
          <a:xfrm>
            <a:off x="8339328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10485A"/>
          </a:solidFill>
          <a:ln w="12700">
            <a:solidFill>
              <a:srgbClr val="1C5D71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7FD618-64AC-419C-902A-8C199378D4A8}"/>
              </a:ext>
            </a:extLst>
          </p:cNvPr>
          <p:cNvSpPr>
            <a:spLocks noGrp="1"/>
          </p:cNvSpPr>
          <p:nvPr/>
        </p:nvSpPr>
        <p:spPr>
          <a:xfrm>
            <a:off x="8595360" y="2121408"/>
            <a:ext cx="3008376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Контролируемый отказ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7D6B1E-5F72-4F78-AE4E-83DD4ACE3EE4}"/>
              </a:ext>
            </a:extLst>
          </p:cNvPr>
          <p:cNvSpPr>
            <a:spLocks noGrp="1"/>
          </p:cNvSpPr>
          <p:nvPr/>
        </p:nvSpPr>
        <p:spPr>
          <a:xfrm>
            <a:off x="8595360" y="2487168"/>
            <a:ext cx="3008376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C7D8DE"/>
                </a:solidFill>
                <a:latin typeface="Calibri"/>
                <a:ea typeface="Calibri"/>
                <a:cs typeface="Calibri"/>
              </a:rPr>
              <a:t>Нет основания — нет категорического ответа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07C9DEF-14B1-4582-8172-C31940A9C240}"/>
              </a:ext>
            </a:extLst>
          </p:cNvPr>
          <p:cNvSpPr>
            <a:spLocks noGrp="1"/>
          </p:cNvSpPr>
          <p:nvPr/>
        </p:nvSpPr>
        <p:spPr>
          <a:xfrm>
            <a:off x="640080" y="3886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>
                <a:solidFill>
                  <a:srgbClr val="C7D8DE"/>
                </a:solidFill>
                <a:latin typeface="Calibri"/>
                <a:ea typeface="Calibri"/>
                <a:cs typeface="Calibri"/>
              </a:rPr>
              <a:t>LLM — последний слой: он формулирует ответ из найденных фрагментов, но не заменяет поиск и эксперта.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7C983C-7365-48CC-A51D-20F3D9EA0799}"/>
              </a:ext>
            </a:extLst>
          </p:cNvPr>
          <p:cNvSpPr>
            <a:spLocks noGrp="1"/>
          </p:cNvSpPr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
</a:t>
            </a:r>
            <a:r>
              <a:rPr sz="20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Спасибо</a:t>
            </a:r>
            <a:r>
              <a:rPr sz="2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. </a:t>
            </a:r>
            <a:r>
              <a:rPr sz="20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Готов</a:t>
            </a:r>
            <a:r>
              <a:rPr sz="2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к </a:t>
            </a:r>
            <a:r>
              <a:rPr sz="2000" b="1" dirty="0" err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вопросам</a:t>
            </a:r>
            <a:r>
              <a:rPr sz="20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99581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1323</Words>
  <Application>Microsoft Office PowerPoint</Application>
  <DocSecurity>0</DocSecurity>
  <PresentationFormat>Широкоэкранный</PresentationFormat>
  <Paragraphs>198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Ислам Шовгенов</cp:lastModifiedBy>
  <cp:revision>1</cp:revision>
  <dcterms:created xsi:type="dcterms:W3CDTF">2026-08-28T12:08:22Z</dcterms:created>
  <dcterms:modified xsi:type="dcterms:W3CDTF">2026-08-28T12:34:23Z</dcterms:modified>
</cp:coreProperties>
</file>
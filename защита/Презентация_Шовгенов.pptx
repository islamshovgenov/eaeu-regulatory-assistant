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8029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Предисловие: откуда задача. Поиск пункта вручную — от получаса до дня, ошибка стоит переделанного исследования.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мысль: в регуляторике выдуманная ссылка опаснее отсутствия ответа.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Документы скачаны с официального портала, по каждому ведётся реестр: SHA-256 и дата обращения.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слайд защиты. Модель физически не пишет объект цитаты — только целое число.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 проект · RAG-система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EAEU Regulatory Assistant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Ассистент регуляторной поддержки: отвечает на вопросы о регистрации лекарственных препаратов в ЕАЭС только по официальным документам — с точной ссылкой на пункт и страницу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977640"/>
            <a:ext cx="1005840" cy="274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Ислам Шовгенов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нельзя просто спросить ChatGPT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DECEA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727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ОБЫЧНАЯ ЯЗЫКОВАЯ МОДЕЛЬ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190195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«Согласно пункту 47 Решения Совета ЕЭК № 85 требуется…»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Звучит правдоподобно. Такого пункта не существует.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30906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Выдуманная ссылка хуже отсутствия ответа: отсутствие заставит проверить, ссылка — нет.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5727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ТРЕБОВАНИЕ К СИСТЕМЕ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утверждение — со ссылкой на реальный фрагмент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до пункта и страницы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основания — честный отказ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Видно, насколько система себе доверяет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39776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формулировалась не как «сделать чат-бота», а как «сделать систему, где нормативное утверждение физически не может существовать без ссылки на реальный документ».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EAEU Regulatory Assistant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692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ПОСТРОЕНО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Корпус нормативной базы ЕАЭС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435608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04672" y="1892808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документов скачано с портала ЕАЭС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65576" y="13258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30168" y="1435608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11 058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30168" y="1892808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фрагментов со структурой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91072" y="13258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435608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6,07 млн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55664" y="1892808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токенов текста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16568" y="13258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1435608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281160" y="1892808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автотестов проходят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26060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Иерархия источников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999232"/>
          <a:ext cx="5669280" cy="153619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194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обязательные акты — решения Совета и Коллегии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86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руководства Коллегии ЕЭК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 · 467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рекомендации Экспертного комитета по МНН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4 · 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ICH / EMA / WHO — справочно, ≤ 25 % контекста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6720840" y="2606040"/>
            <a:ext cx="4800600" cy="2377440"/>
          </a:xfrm>
          <a:prstGeom prst="roundRect">
            <a:avLst>
              <a:gd name="adj" fmla="val 3077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95160" y="27889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Структура сохранена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995160" y="315468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«где-то в файле», а точные координаты: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995160" y="349300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Приложение № 1 · Раздел III · п. 106 · с. 52–53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995160" y="411480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Ссылка выглядит так же, как в самом нормативном документе — её можно проверить за секунды.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EAEU Regulatory Assistant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9692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Гибридный поиск: смысл + буква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8132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Векторный поиск — смысл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«Дженерик» → найдёт «воспроизведённый лекарственный препарат». Слаб на точных обозначениях.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32588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48132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BM25 — буква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Находит Cmax, AUC(0-t), 80,00–125,00 %, «Решение № 85». Не понимает синонимов.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10881360" cy="475488"/>
          </a:xfrm>
          <a:prstGeom prst="roundRect">
            <a:avLst>
              <a:gd name="adj" fmla="val 15385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" y="3072384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3072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70432" y="2990088"/>
            <a:ext cx="10195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кандидатов вектором (multilingual-e5-base, Qdrant) + 40 кандидатов BM25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538728"/>
            <a:ext cx="10881360" cy="475488"/>
          </a:xfrm>
          <a:prstGeom prst="roundRect">
            <a:avLst>
              <a:gd name="adj" fmla="val 15385"/>
            </a:avLst>
          </a:prstGeom>
          <a:solidFill>
            <a:srgbClr val="D7F2ED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3639312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3639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70432" y="3557016"/>
            <a:ext cx="10195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слияние рангов RRF · переранжирование · 12 итоговых фрагментов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105656"/>
            <a:ext cx="10881360" cy="475488"/>
          </a:xfrm>
          <a:prstGeom prst="roundRect">
            <a:avLst>
              <a:gd name="adj" fmla="val 15385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" y="4206240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70432" y="4123944"/>
            <a:ext cx="10195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политика источников: обязательные акты ЕАЭС всегда в контексте, международные ≤ 25 %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4892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складывает не оценки, а позиции в списках: у вектора они 0…1, у BM25 — какие угодно, калибровать нечем.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EAEU Regulatory Assistant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692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КЛЮЧЕВОЕ РЕШЕНИЕ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не создаёт ссылки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881360" cy="475488"/>
          </a:xfrm>
          <a:prstGeom prst="roundRect">
            <a:avLst>
              <a:gd name="adj" fmla="val 15385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426464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26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70432" y="1344168"/>
            <a:ext cx="10195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вернул 12 фрагментов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10881360" cy="475488"/>
          </a:xfrm>
          <a:prstGeom prst="roundRect">
            <a:avLst>
              <a:gd name="adj" fmla="val 15385"/>
            </a:avLst>
          </a:prstGeom>
          <a:solidFill>
            <a:srgbClr val="D7F2ED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975104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70432" y="1892808"/>
            <a:ext cx="10195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присваивает им номера [1]…[12] — до обращения к модели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423160"/>
            <a:ext cx="10881360" cy="475488"/>
          </a:xfrm>
          <a:prstGeom prst="roundRect">
            <a:avLst>
              <a:gd name="adj" fmla="val 15385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" y="2523744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2523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70432" y="2441448"/>
            <a:ext cx="10195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получает фрагменты как данные и может указать только номер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2971800"/>
            <a:ext cx="10881360" cy="475488"/>
          </a:xfrm>
          <a:prstGeom prst="roundRect">
            <a:avLst>
              <a:gd name="adj" fmla="val 15385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3072384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3072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70432" y="2990088"/>
            <a:ext cx="10195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Валидатор удаляет номера, которых нет в реестре, и предупреждает пользователя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3520440"/>
            <a:ext cx="10881360" cy="475488"/>
          </a:xfrm>
          <a:prstGeom prst="roundRect">
            <a:avLst>
              <a:gd name="adj" fmla="val 15385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" y="3621024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" y="3621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70432" y="3538728"/>
            <a:ext cx="10195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Номера актов в тексте сверяются со списком документов корпуса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315968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D7F2ED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44805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не пишет название документа, номер или дату — только число, которое уже существует.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Галлюцинация источника не «маловероятна» — она архитектурно невозможна.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EAEU Regulatory Assistant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692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КЛЮЧЕВОЕ РЕШЕНИЕ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Уверенность — число, которое можно оспорить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Уверенность не спрашивается у модели: она одинаково уверена и когда права, и когда ошибается.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Считается кодом по 9 наблюдаемым признакам. Штрафы: расхождения источников, утратившие силу документы, нехватка данных о препарате.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ни одной ссылки → принудительно LOW, сколько бы хорошего ни нашёл поиск.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32588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Уверенность: HIGH · 0.93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965960"/>
          <a:ext cx="4572000" cy="182880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Найдено источников: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Обязательные акты ЕАЭС (TIER 1–2):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Доля утверждений со ссылками: 100 %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Релевантность лучшего фрагмента: 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Подтверждённая редакция: 11 из 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675120" y="39776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вклад показывается пользователю — с таким числом можно спорить.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EAEU Regulatory Assistant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692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Ответ на общий вопрос: ссылки по тексту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12648" y="1207008"/>
            <a:ext cx="7461504" cy="4681728"/>
          </a:xfrm>
          <a:prstGeom prst="rect">
            <a:avLst/>
          </a:prstGeom>
          <a:solidFill>
            <a:srgbClr val="E8EDEF"/>
          </a:solidFill>
          <a:ln w="12700">
            <a:solidFill>
              <a:srgbClr val="D3DCE0"/>
            </a:solidFill>
            <a:prstDash val="solid"/>
          </a:ln>
        </p:spPr>
      </p:sp>
      <p:pic>
        <p:nvPicPr>
          <p:cNvPr id="5" name="Image 0" descr="C:\Users\Admin\Desktop\финальный проект вышка\eaeu_regulatory_assistant\защита\скриншоты\02_ответ_со_ссылками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7406640" cy="46268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21040" y="1234440"/>
            <a:ext cx="3200400" cy="2103120"/>
          </a:xfrm>
          <a:prstGeom prst="roundRect">
            <a:avLst>
              <a:gd name="adj" fmla="val 3478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49640" y="13898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видно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549640" y="1755648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ссылки [N] стоят прямо у утверждений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уверенность HIGH · 0.93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обязательных акта ЕАЭС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321040" y="3474720"/>
            <a:ext cx="3200400" cy="2377440"/>
          </a:xfrm>
          <a:prstGeom prst="roundRect">
            <a:avLst>
              <a:gd name="adj" fmla="val 3077"/>
            </a:avLst>
          </a:prstGeom>
          <a:solidFill>
            <a:srgbClr val="D7F2ED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49640" y="370332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за секунды вместо часов поиска по PDF — и его можно проверить, не выходя из интерфейса.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EAEU Regulatory Assistant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692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 по конкретному препарату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12648" y="1207008"/>
            <a:ext cx="7461504" cy="4681728"/>
          </a:xfrm>
          <a:prstGeom prst="rect">
            <a:avLst/>
          </a:prstGeom>
          <a:solidFill>
            <a:srgbClr val="E8EDEF"/>
          </a:solidFill>
          <a:ln w="12700">
            <a:solidFill>
              <a:srgbClr val="D3DCE0"/>
            </a:solidFill>
            <a:prstDash val="solid"/>
          </a:ln>
        </p:spPr>
      </p:sp>
      <p:pic>
        <p:nvPicPr>
          <p:cNvPr id="5" name="Image 0" descr="C:\Users\Admin\Desktop\финальный проект вышка\eaeu_regulatory_assistant\защита\скриншоты\05_ответ_по_препарату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7406640" cy="46268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21040" y="1234440"/>
            <a:ext cx="3200400" cy="2880360"/>
          </a:xfrm>
          <a:prstGeom prst="roundRect">
            <a:avLst>
              <a:gd name="adj" fmla="val 2540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49640" y="13898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Нимесулид 100 мг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549640" y="1755648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референтный — «Аулин» (Месулид)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периода, перекрёстный, натощак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не менее 20 часов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интервал 80,00–125,00 %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321040" y="4251960"/>
            <a:ext cx="3200400" cy="1600200"/>
          </a:xfrm>
          <a:prstGeom prst="roundRect">
            <a:avLst>
              <a:gd name="adj" fmla="val 4571"/>
            </a:avLst>
          </a:prstGeom>
          <a:solidFill>
            <a:srgbClr val="D7F2ED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49640" y="443484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не общая теория, а ответ по конкретному веществу — из рекомендаций Экспертного комитета.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EAEU Regulatory Assistant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692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Проверяемость и честный отказ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Дословный фрагмент источника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" y="1527048"/>
            <a:ext cx="5404104" cy="3392424"/>
          </a:xfrm>
          <a:prstGeom prst="rect">
            <a:avLst/>
          </a:prstGeom>
          <a:solidFill>
            <a:srgbClr val="E8EDEF"/>
          </a:solidFill>
          <a:ln w="12700">
            <a:solidFill>
              <a:srgbClr val="D3DCE0"/>
            </a:solidFill>
            <a:prstDash val="solid"/>
          </a:ln>
        </p:spPr>
      </p:sp>
      <p:pic>
        <p:nvPicPr>
          <p:cNvPr id="6" name="Image 0" descr="C:\Users\Admin\Desktop\финальный проект вышка\eaeu_regulatory_assistant\защита\скриншоты\04_источник_с_фрагментом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5349240" cy="3337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02920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Реквизиты акта, дата обращения, ссылка на оригинал — проверка занимает секунды.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55080" y="118872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Вещества нет в базе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327648" y="1527048"/>
            <a:ext cx="5221224" cy="3392424"/>
          </a:xfrm>
          <a:prstGeom prst="rect">
            <a:avLst/>
          </a:prstGeom>
          <a:solidFill>
            <a:srgbClr val="E8EDEF"/>
          </a:solidFill>
          <a:ln w="12700">
            <a:solidFill>
              <a:srgbClr val="D3DCE0"/>
            </a:solidFill>
            <a:prstDash val="solid"/>
          </a:ln>
        </p:spPr>
      </p:sp>
      <p:pic>
        <p:nvPicPr>
          <p:cNvPr id="10" name="Image 1" descr="C:\Users\Admin\Desktop\финальный проект вышка\eaeu_regulatory_assistant\защита\скриншоты\06_честный_отказ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554480"/>
            <a:ext cx="5166360" cy="33375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55080" y="502920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«Нормативное основание не найдено», уверенность LOW · 0.00. Отказ — правильный результат.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EAEU Regulatory Assistant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9692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ИНЖЕНЕРНАЯ ИСТОРИЯ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Сканы: как вернули три четверти документов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Проблема. </a:t>
            </a:r>
            <a:r>
              <a:rPr lang="en-US" sz="13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569 рекомендаций Экспертного комитета — самая ценная часть корпуса — опубликованы как сканы без текстового слоя. По названию они отлично находились, занимали место в контексте и давали ноль содержания. Отсюда расплывчатые ответы.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Решение. </a:t>
            </a:r>
            <a:r>
              <a:rPr lang="en-US" sz="13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с русской моделью, 4 916 страниц, 8 параллельных процессов. Отдельный скрипт переиндексирует только эти документы — минуты вместо часов полной переиндексации.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43434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Распознано 569 из 569, ошибок — 0.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325880"/>
          <a:ext cx="4800600" cy="2414016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7B87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Показатель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7B87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7B87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После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Фрагментов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7B87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6 297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11 058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7B87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7B87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Вопросов без попадания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7B87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Документов без текста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7B87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EAEU Regulatory Assistant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692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Метрики и честные ограничения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389888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04672" y="1847088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Recall@5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65576" y="128016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30168" y="1389888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30168" y="1847088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Recall@10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91072" y="128016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389888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55664" y="1847088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вопросов, 14 тем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16568" y="128016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1389888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281160" y="1847088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 проходят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2743200"/>
            <a:ext cx="10881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измеряют поиск, а не регуляторную корректность; тестовый набор машинный и требует экспертной валидации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Модель-судья сознательно не используется — это была бы проверка модели моделью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615 из 755 документов редакция не подтверждена автоматически — система сообщает об этом в ответе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569 документов получен OCR — возможны ошибки распознавания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вспомогательная: решение принимает эксперт — написано в интерфейсе, а не в документации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EAEU Regulatory Assistant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692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получилось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0485A"/>
          </a:solidFill>
          <a:ln w="12700">
            <a:solidFill>
              <a:srgbClr val="1C5D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121408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Секунды вместо часов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2487168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с пунктом и страницей официального документа.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9704" y="19202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0485A"/>
          </a:solidFill>
          <a:ln w="12700">
            <a:solidFill>
              <a:srgbClr val="1C5D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45736" y="2121408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Проверяемость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45736" y="2487168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Дословный фрагмент источника — под каждым ответом.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39328" y="19202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0485A"/>
          </a:solidFill>
          <a:ln w="12700">
            <a:solidFill>
              <a:srgbClr val="1C5D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2121408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Честность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95360" y="2487168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 без основания и объяснимая уверенность.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вывод: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надёжность RAG-системы обеспечивается не промптом, а архитектурой.</a:t>
            </a:r>
            <a:r>
              <a:rPr lang="en-US" sz="1600" dirty="0">
                <a:solidFill>
                  <a:srgbClr val="C7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Промпт можно обойти — невозможность написать несуществующий номер обойти нельзя.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Спасибо. Готов к вопросам.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1087</Words>
  <Application>Microsoft Office PowerPoint</Application>
  <PresentationFormat>Широкоэкранный</PresentationFormat>
  <Paragraphs>188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EAEU Regulatory Assistant</dc:title>
  <dc:subject>PptxGenJS Presentation</dc:subject>
  <dc:creator>Ислам Шовгенов</dc:creator>
  <cp:lastModifiedBy>Admin</cp:lastModifiedBy>
  <cp:revision>2</cp:revision>
  <dcterms:created xsi:type="dcterms:W3CDTF">2026-08-11T15:17:05Z</dcterms:created>
  <dcterms:modified xsi:type="dcterms:W3CDTF">2026-08-11T17:16:12Z</dcterms:modified>
</cp:coreProperties>
</file>